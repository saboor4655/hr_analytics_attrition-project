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7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6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D3A52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2D3A52"/>
                </a:solidFill>
                <a:latin typeface="Arial"/>
              </a:rPr>
              <a:t>Attrition Rate by Department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Rate</c:v>
                </c:pt>
              </c:strCache>
            </c:strRef>
          </c:tx>
          <c:spPr>
            <a:solidFill>
              <a:srgbClr val="C00000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00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DF1-493F-915A-819921D0C7EB}"/>
              </c:ext>
            </c:extLst>
          </c:dPt>
          <c:dPt>
            <c:idx val="1"/>
            <c:invertIfNegative val="0"/>
            <c:bubble3D val="0"/>
            <c:spPr>
              <a:solidFill>
                <a:srgbClr val="BF8F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DF1-493F-915A-819921D0C7EB}"/>
              </c:ext>
            </c:extLst>
          </c:dPt>
          <c:dPt>
            <c:idx val="2"/>
            <c:invertIfNegative val="0"/>
            <c:bubble3D val="0"/>
            <c:spPr>
              <a:solidFill>
                <a:srgbClr val="375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DF1-493F-915A-819921D0C7E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Sales</c:v>
                </c:pt>
                <c:pt idx="1">
                  <c:v>Human Resources</c:v>
                </c:pt>
                <c:pt idx="2">
                  <c:v>Research &amp; Dev.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20.6</c:v>
                </c:pt>
                <c:pt idx="1">
                  <c:v>19</c:v>
                </c:pt>
                <c:pt idx="2">
                  <c:v>13.8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DF1-493F-915A-819921D0C7E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D3A5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D3A5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D3A52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2D3A52"/>
                </a:solidFill>
                <a:latin typeface="Arial"/>
              </a:rPr>
              <a:t>Attrition Rate by Job Role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Rate</c:v>
                </c:pt>
              </c:strCache>
            </c:strRef>
          </c:tx>
          <c:spPr>
            <a:solidFill>
              <a:srgbClr val="C00000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00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7D6-4BA5-BDC5-7117410B523F}"/>
              </c:ext>
            </c:extLst>
          </c:dPt>
          <c:dPt>
            <c:idx val="1"/>
            <c:invertIfNegative val="0"/>
            <c:bubble3D val="0"/>
            <c:spPr>
              <a:solidFill>
                <a:srgbClr val="C00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7D6-4BA5-BDC5-7117410B523F}"/>
              </c:ext>
            </c:extLst>
          </c:dPt>
          <c:dPt>
            <c:idx val="2"/>
            <c:invertIfNegative val="0"/>
            <c:bubble3D val="0"/>
            <c:spPr>
              <a:solidFill>
                <a:srgbClr val="375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7D6-4BA5-BDC5-7117410B523F}"/>
              </c:ext>
            </c:extLst>
          </c:dPt>
          <c:dPt>
            <c:idx val="3"/>
            <c:invertIfNegative val="0"/>
            <c:bubble3D val="0"/>
            <c:spPr>
              <a:solidFill>
                <a:srgbClr val="375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7D6-4BA5-BDC5-7117410B523F}"/>
              </c:ext>
            </c:extLst>
          </c:dPt>
          <c:dPt>
            <c:idx val="4"/>
            <c:invertIfNegative val="0"/>
            <c:bubble3D val="0"/>
            <c:spPr>
              <a:solidFill>
                <a:srgbClr val="BF8F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7D6-4BA5-BDC5-7117410B523F}"/>
              </c:ext>
            </c:extLst>
          </c:dPt>
          <c:dPt>
            <c:idx val="5"/>
            <c:invertIfNegative val="0"/>
            <c:bubble3D val="0"/>
            <c:spPr>
              <a:solidFill>
                <a:srgbClr val="BF8F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B7D6-4BA5-BDC5-7117410B523F}"/>
              </c:ext>
            </c:extLst>
          </c:dPt>
          <c:dPt>
            <c:idx val="6"/>
            <c:invertIfNegative val="0"/>
            <c:bubble3D val="0"/>
            <c:spPr>
              <a:solidFill>
                <a:srgbClr val="C00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B7D6-4BA5-BDC5-7117410B523F}"/>
              </c:ext>
            </c:extLst>
          </c:dPt>
          <c:dPt>
            <c:idx val="7"/>
            <c:invertIfNegative val="0"/>
            <c:bubble3D val="0"/>
            <c:spPr>
              <a:solidFill>
                <a:srgbClr val="C00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B7D6-4BA5-BDC5-7117410B523F}"/>
              </c:ext>
            </c:extLst>
          </c:dPt>
          <c:dPt>
            <c:idx val="8"/>
            <c:invertIfNegative val="0"/>
            <c:bubble3D val="0"/>
            <c:spPr>
              <a:solidFill>
                <a:srgbClr val="C00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B7D6-4BA5-BDC5-7117410B523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Research Director</c:v>
                </c:pt>
                <c:pt idx="1">
                  <c:v>Manager</c:v>
                </c:pt>
                <c:pt idx="2">
                  <c:v>Healthcare Rep</c:v>
                </c:pt>
                <c:pt idx="3">
                  <c:v>Manufacturing Dir</c:v>
                </c:pt>
                <c:pt idx="4">
                  <c:v>Research Scientist</c:v>
                </c:pt>
                <c:pt idx="5">
                  <c:v>Sales Executive</c:v>
                </c:pt>
                <c:pt idx="6">
                  <c:v>Human Resources</c:v>
                </c:pt>
                <c:pt idx="7">
                  <c:v>Lab Technician</c:v>
                </c:pt>
                <c:pt idx="8">
                  <c:v>Sales Representative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2.5</c:v>
                </c:pt>
                <c:pt idx="1">
                  <c:v>4.9000000000000004</c:v>
                </c:pt>
                <c:pt idx="2">
                  <c:v>6.9</c:v>
                </c:pt>
                <c:pt idx="3">
                  <c:v>6.9</c:v>
                </c:pt>
                <c:pt idx="4">
                  <c:v>16.100000000000001</c:v>
                </c:pt>
                <c:pt idx="5">
                  <c:v>17.5</c:v>
                </c:pt>
                <c:pt idx="6">
                  <c:v>23.1</c:v>
                </c:pt>
                <c:pt idx="7">
                  <c:v>23.9</c:v>
                </c:pt>
                <c:pt idx="8">
                  <c:v>39.799999999999997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B7D6-4BA5-BDC5-7117410B523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D3A5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D3A5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D3A52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2D3A52"/>
                </a:solidFill>
                <a:latin typeface="Arial"/>
              </a:rPr>
              <a:t>Avg Monthly Income — Left vs Stayed ($)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35328879344627379"/>
          <c:y val="0.1259645061728395"/>
          <c:w val="0.57259504493756463"/>
          <c:h val="0.76927706085350445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Monthly Income</c:v>
                </c:pt>
              </c:strCache>
            </c:strRef>
          </c:tx>
          <c:spPr>
            <a:solidFill>
              <a:srgbClr val="C0000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263-4D35-A182-D0596F84D09F}"/>
              </c:ext>
            </c:extLst>
          </c:dPt>
          <c:dPt>
            <c:idx val="1"/>
            <c:invertIfNegative val="0"/>
            <c:bubble3D val="0"/>
            <c:spPr>
              <a:solidFill>
                <a:srgbClr val="375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263-4D35-A182-D0596F84D09F}"/>
              </c:ext>
            </c:extLst>
          </c:dPt>
          <c:dLbls>
            <c:numFmt formatCode="\$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Employees Who Left</c:v>
                </c:pt>
                <c:pt idx="1">
                  <c:v>Employees Who Stayed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4787</c:v>
                </c:pt>
                <c:pt idx="1">
                  <c:v>6833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263-4D35-A182-D0596F84D09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D3A5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D3A5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D3A52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2D3A52"/>
                </a:solidFill>
                <a:latin typeface="Arial"/>
              </a:rPr>
              <a:t>Attrition Rate: Overtime vs Non-Overtime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Rate</c:v>
                </c:pt>
              </c:strCache>
            </c:strRef>
          </c:tx>
          <c:spPr>
            <a:solidFill>
              <a:srgbClr val="375623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375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94A-400C-AC05-FB0E89D64925}"/>
              </c:ext>
            </c:extLst>
          </c:dPt>
          <c:dPt>
            <c:idx val="1"/>
            <c:invertIfNegative val="0"/>
            <c:bubble3D val="0"/>
            <c:spPr>
              <a:solidFill>
                <a:srgbClr val="C00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94A-400C-AC05-FB0E89D64925}"/>
              </c:ext>
            </c:extLst>
          </c:dPt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No Overtime</c:v>
                </c:pt>
                <c:pt idx="1">
                  <c:v>Works Overtime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10.4</c:v>
                </c:pt>
                <c:pt idx="1">
                  <c:v>30.5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94A-400C-AC05-FB0E89D6492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D3A5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D3A5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D3A52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2D3A52"/>
                </a:solidFill>
                <a:latin typeface="Arial"/>
              </a:rPr>
              <a:t>Attrition by Tenure Group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Rate</c:v>
                </c:pt>
              </c:strCache>
            </c:strRef>
          </c:tx>
          <c:spPr>
            <a:solidFill>
              <a:srgbClr val="C00000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00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06F-4F68-BB06-59F98CCDD7BF}"/>
              </c:ext>
            </c:extLst>
          </c:dPt>
          <c:dPt>
            <c:idx val="1"/>
            <c:invertIfNegative val="0"/>
            <c:bubble3D val="0"/>
            <c:spPr>
              <a:solidFill>
                <a:srgbClr val="BF8F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06F-4F68-BB06-59F98CCDD7BF}"/>
              </c:ext>
            </c:extLst>
          </c:dPt>
          <c:dPt>
            <c:idx val="2"/>
            <c:invertIfNegative val="0"/>
            <c:bubble3D val="0"/>
            <c:spPr>
              <a:solidFill>
                <a:srgbClr val="2E75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06F-4F68-BB06-59F98CCDD7BF}"/>
              </c:ext>
            </c:extLst>
          </c:dPt>
          <c:dPt>
            <c:idx val="3"/>
            <c:invertIfNegative val="0"/>
            <c:bubble3D val="0"/>
            <c:spPr>
              <a:solidFill>
                <a:srgbClr val="375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06F-4F68-BB06-59F98CCDD7BF}"/>
              </c:ext>
            </c:extLst>
          </c:dPt>
          <c:dPt>
            <c:idx val="4"/>
            <c:invertIfNegative val="0"/>
            <c:bubble3D val="0"/>
            <c:spPr>
              <a:solidFill>
                <a:srgbClr val="375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206F-4F68-BB06-59F98CCDD7B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D3A5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0-1 Years</c:v>
                </c:pt>
                <c:pt idx="1">
                  <c:v>1-3 Years</c:v>
                </c:pt>
                <c:pt idx="2">
                  <c:v>3-5 Years</c:v>
                </c:pt>
                <c:pt idx="3">
                  <c:v>5-10 Years</c:v>
                </c:pt>
                <c:pt idx="4">
                  <c:v>10+ Years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34.9</c:v>
                </c:pt>
                <c:pt idx="1">
                  <c:v>18.399999999999999</c:v>
                </c:pt>
                <c:pt idx="2">
                  <c:v>13.1</c:v>
                </c:pt>
                <c:pt idx="3">
                  <c:v>12.3</c:v>
                </c:pt>
                <c:pt idx="4">
                  <c:v>8.1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206F-4F68-BB06-59F98CCDD7B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D3A5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D3A5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D3A52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2D3A52"/>
                </a:solidFill>
                <a:latin typeface="Arial"/>
              </a:rPr>
              <a:t>Attrition by Job Satisfaction Score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Rate</c:v>
                </c:pt>
              </c:strCache>
            </c:strRef>
          </c:tx>
          <c:spPr>
            <a:solidFill>
              <a:srgbClr val="C0000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75F-427D-9824-F92D7824DCDE}"/>
              </c:ext>
            </c:extLst>
          </c:dPt>
          <c:dPt>
            <c:idx val="1"/>
            <c:invertIfNegative val="0"/>
            <c:bubble3D val="0"/>
            <c:spPr>
              <a:solidFill>
                <a:srgbClr val="BF8F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75F-427D-9824-F92D7824DCDE}"/>
              </c:ext>
            </c:extLst>
          </c:dPt>
          <c:dPt>
            <c:idx val="2"/>
            <c:invertIfNegative val="0"/>
            <c:bubble3D val="0"/>
            <c:spPr>
              <a:solidFill>
                <a:srgbClr val="2E75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75F-427D-9824-F92D7824DCDE}"/>
              </c:ext>
            </c:extLst>
          </c:dPt>
          <c:dPt>
            <c:idx val="3"/>
            <c:invertIfNegative val="0"/>
            <c:bubble3D val="0"/>
            <c:spPr>
              <a:solidFill>
                <a:srgbClr val="375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75F-427D-9824-F92D7824DCD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D3A5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1 - Low</c:v>
                </c:pt>
                <c:pt idx="1">
                  <c:v>2 - Medium</c:v>
                </c:pt>
                <c:pt idx="2">
                  <c:v>3 - High</c:v>
                </c:pt>
                <c:pt idx="3">
                  <c:v>4 - Very High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22.8</c:v>
                </c:pt>
                <c:pt idx="1">
                  <c:v>15.9</c:v>
                </c:pt>
                <c:pt idx="2">
                  <c:v>17</c:v>
                </c:pt>
                <c:pt idx="3">
                  <c:v>11.3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75F-427D-9824-F92D7824DCD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D3A5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D3A5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D3A52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2D3A52"/>
                </a:solidFill>
                <a:latin typeface="Arial"/>
              </a:rPr>
              <a:t>Net ROI by Retention Scenario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ROI ($)</c:v>
                </c:pt>
              </c:strCache>
            </c:strRef>
          </c:tx>
          <c:spPr>
            <a:solidFill>
              <a:srgbClr val="C00000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00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3A1-441B-A343-7A55EEFF818A}"/>
              </c:ext>
            </c:extLst>
          </c:dPt>
          <c:dPt>
            <c:idx val="1"/>
            <c:invertIfNegative val="0"/>
            <c:bubble3D val="0"/>
            <c:spPr>
              <a:solidFill>
                <a:srgbClr val="2E75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3A1-441B-A343-7A55EEFF818A}"/>
              </c:ext>
            </c:extLst>
          </c:dPt>
          <c:dPt>
            <c:idx val="2"/>
            <c:invertIfNegative val="0"/>
            <c:bubble3D val="0"/>
            <c:spPr>
              <a:solidFill>
                <a:srgbClr val="2E75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3A1-441B-A343-7A55EEFF818A}"/>
              </c:ext>
            </c:extLst>
          </c:dPt>
          <c:dPt>
            <c:idx val="3"/>
            <c:invertIfNegative val="0"/>
            <c:bubble3D val="0"/>
            <c:spPr>
              <a:solidFill>
                <a:srgbClr val="375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3A1-441B-A343-7A55EEFF818A}"/>
              </c:ext>
            </c:extLst>
          </c:dPt>
          <c:dPt>
            <c:idx val="4"/>
            <c:invertIfNegative val="0"/>
            <c:bubble3D val="0"/>
            <c:spPr>
              <a:solidFill>
                <a:srgbClr val="1F386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3A1-441B-A343-7A55EEFF818A}"/>
              </c:ext>
            </c:extLst>
          </c:dPt>
          <c:dLbls>
            <c:numFmt formatCode="\$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Pay Raise (5%)</c:v>
                </c:pt>
                <c:pt idx="1">
                  <c:v>Manager Training (4%)</c:v>
                </c:pt>
                <c:pt idx="2">
                  <c:v>Career Development (6%)</c:v>
                </c:pt>
                <c:pt idx="3">
                  <c:v>Eliminate Overtime (8%)</c:v>
                </c:pt>
                <c:pt idx="4">
                  <c:v>Combined Programme (20%)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-63775</c:v>
                </c:pt>
                <c:pt idx="1">
                  <c:v>268980</c:v>
                </c:pt>
                <c:pt idx="2">
                  <c:v>403470</c:v>
                </c:pt>
                <c:pt idx="3">
                  <c:v>547960</c:v>
                </c:pt>
                <c:pt idx="4">
                  <c:v>944901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93A1-441B-A343-7A55EEFF818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D3A5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D3A5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5402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0"/>
            <a:ext cx="5943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Employee Attrition &amp;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Workforce Health Audit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65760" y="205740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An end-to-end HR analytics project using Python, SQL,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Excel and Power BI.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8912" y="3256315"/>
            <a:ext cx="3200400" cy="7315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302035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Abdul Saboor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Data Analyst  •  April 2026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583680" y="1463040"/>
            <a:ext cx="2103120" cy="475488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46304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Python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583680" y="2121408"/>
            <a:ext cx="2103120" cy="475488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2121408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SQL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583680" y="2779776"/>
            <a:ext cx="2103120" cy="475488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2779776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Excel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83680" y="3438144"/>
            <a:ext cx="2103120" cy="475488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343814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Power BI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PROJECT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u="sng" dirty="0">
                <a:solidFill>
                  <a:srgbClr val="2D3A52"/>
                </a:solidFill>
              </a:rPr>
              <a:t>What This Project Covers</a:t>
            </a:r>
            <a:endParaRPr lang="en-US" sz="2400" u="sng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496B0"/>
                </a:solidFill>
              </a:rPr>
              <a:t>A complete data analyst workflow, from raw data to executive dashboard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19659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325880"/>
            <a:ext cx="1965960" cy="5943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32588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74320" y="20116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D3A52"/>
                </a:solidFill>
              </a:rPr>
              <a:t>Python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74320" y="256032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496B0"/>
                </a:solidFill>
              </a:rPr>
              <a:t>Data cleaning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496B0"/>
                </a:solidFill>
              </a:rPr>
              <a:t>&amp; EDA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40280" y="2834640"/>
            <a:ext cx="182880" cy="0"/>
          </a:xfrm>
          <a:prstGeom prst="line">
            <a:avLst/>
          </a:prstGeom>
          <a:noFill/>
          <a:ln w="19050">
            <a:solidFill>
              <a:srgbClr val="8496B0"/>
            </a:solidFill>
            <a:prstDash val="solid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2423160" y="1325880"/>
            <a:ext cx="19659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23160" y="1325880"/>
            <a:ext cx="1965960" cy="594360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23160" y="132588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423160" y="20116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D3A52"/>
                </a:solidFill>
              </a:rPr>
              <a:t>SQL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423160" y="256032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496B0"/>
                </a:solidFill>
              </a:rPr>
              <a:t>10 business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496B0"/>
                </a:solidFill>
              </a:rPr>
              <a:t>queries answered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89120" y="2834640"/>
            <a:ext cx="182880" cy="0"/>
          </a:xfrm>
          <a:prstGeom prst="line">
            <a:avLst/>
          </a:prstGeom>
          <a:noFill/>
          <a:ln w="19050">
            <a:solidFill>
              <a:srgbClr val="8496B0"/>
            </a:solidFill>
            <a:prstDash val="solid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4572000" y="1325880"/>
            <a:ext cx="19659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0" y="1325880"/>
            <a:ext cx="1965960" cy="594360"/>
          </a:xfrm>
          <a:prstGeom prst="rect">
            <a:avLst/>
          </a:prstGeom>
          <a:solidFill>
            <a:srgbClr val="BF8F00"/>
          </a:solidFill>
          <a:ln w="12700">
            <a:solidFill>
              <a:srgbClr val="BF8F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132588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572000" y="20116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D3A52"/>
                </a:solidFill>
              </a:rPr>
              <a:t>Excel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72000" y="256032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496B0"/>
                </a:solidFill>
              </a:rPr>
              <a:t>Cost model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496B0"/>
                </a:solidFill>
              </a:rPr>
              <a:t>&amp; ROI analysis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37960" y="2834640"/>
            <a:ext cx="182880" cy="0"/>
          </a:xfrm>
          <a:prstGeom prst="line">
            <a:avLst/>
          </a:prstGeom>
          <a:noFill/>
          <a:ln w="19050">
            <a:solidFill>
              <a:srgbClr val="8496B0"/>
            </a:solidFill>
            <a:prstDash val="solid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6720840" y="1325880"/>
            <a:ext cx="19659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720840" y="1325880"/>
            <a:ext cx="1965960" cy="5943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20840" y="132588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720840" y="20116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D3A52"/>
                </a:solidFill>
              </a:rPr>
              <a:t>Power BI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720840" y="256032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496B0"/>
                </a:solidFill>
              </a:rPr>
              <a:t>3-page executive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496B0"/>
                </a:solidFill>
              </a:rPr>
              <a:t>dashboard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4457700"/>
            <a:ext cx="265176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" y="4457700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WHAT?  Who is leaving, which departments, which roles?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108960" y="4457700"/>
            <a:ext cx="265176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18688" y="4457700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WHY?  Low income, overtime, poor satisfaction, short tenure?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943600" y="4457700"/>
            <a:ext cx="265176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53328" y="4457700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HOW?  Cost model, retention ROI, actionable recommendations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DATASET &amp; TOOLS USED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u="sng" dirty="0">
                <a:solidFill>
                  <a:srgbClr val="2D3A52"/>
                </a:solidFill>
              </a:rPr>
              <a:t>IBM HR Analytics Dataset</a:t>
            </a:r>
            <a:endParaRPr lang="en-US" sz="2200" u="sng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2801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298448"/>
            <a:ext cx="1280160" cy="583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E75B6"/>
                </a:solidFill>
              </a:rPr>
              <a:t>1,470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1772107"/>
            <a:ext cx="12801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496B0"/>
                </a:solidFill>
              </a:rPr>
              <a:t>Employees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783080" y="1188720"/>
            <a:ext cx="12801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783080" y="1298448"/>
            <a:ext cx="1280160" cy="583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E75B6"/>
                </a:solidFill>
              </a:rPr>
              <a:t>35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783080" y="1772107"/>
            <a:ext cx="12801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496B0"/>
                </a:solidFill>
              </a:rPr>
              <a:t>Original Columns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188720"/>
            <a:ext cx="12801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0" y="1298448"/>
            <a:ext cx="1280160" cy="583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E75B6"/>
                </a:solidFill>
              </a:rPr>
              <a:t>33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200400" y="1772107"/>
            <a:ext cx="12801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496B0"/>
                </a:solidFill>
              </a:rPr>
              <a:t>After Cleaning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17720" y="1188720"/>
            <a:ext cx="12801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17720" y="1298448"/>
            <a:ext cx="1280160" cy="583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E75B6"/>
                </a:solidFill>
              </a:rPr>
              <a:t>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617720" y="1772107"/>
            <a:ext cx="12801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496B0"/>
                </a:solidFill>
              </a:rPr>
              <a:t>Missing Values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2377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A52"/>
                </a:solidFill>
              </a:rPr>
              <a:t>About the Dataset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2788920"/>
            <a:ext cx="5029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D3A52"/>
                </a:solidFill>
              </a:rPr>
              <a:t>Source: </a:t>
            </a:r>
            <a:r>
              <a:rPr lang="en-US" sz="1100" dirty="0">
                <a:solidFill>
                  <a:srgbClr val="8496B0"/>
                </a:solidFill>
              </a:rPr>
              <a:t>IBM HR Analytics:- Kaggle (publicly available)
</a:t>
            </a:r>
            <a:r>
              <a:rPr lang="en-US" sz="1100" b="1" dirty="0">
                <a:solidFill>
                  <a:srgbClr val="2D3A52"/>
                </a:solidFill>
              </a:rPr>
              <a:t>Type: </a:t>
            </a:r>
            <a:r>
              <a:rPr lang="en-US" sz="1100" dirty="0">
                <a:solidFill>
                  <a:srgbClr val="8496B0"/>
                </a:solidFill>
              </a:rPr>
              <a:t>Fictional dataset created by IBM data scientists
</a:t>
            </a:r>
            <a:r>
              <a:rPr lang="en-US" sz="1100" b="1" dirty="0">
                <a:solidFill>
                  <a:srgbClr val="2D3A52"/>
                </a:solidFill>
              </a:rPr>
              <a:t>Columns kept: </a:t>
            </a:r>
            <a:r>
              <a:rPr lang="en-US" sz="1100" dirty="0">
                <a:solidFill>
                  <a:srgbClr val="8496B0"/>
                </a:solidFill>
              </a:rPr>
              <a:t>Age, Department, JobRole, MonthlyIncome, OverTime,
JobSatisfaction, YearsAtCompany and 26 more
</a:t>
            </a:r>
            <a:r>
              <a:rPr lang="en-US" sz="1100" b="1" dirty="0">
                <a:solidFill>
                  <a:srgbClr val="2D3A52"/>
                </a:solidFill>
              </a:rPr>
              <a:t>Columns dropped: </a:t>
            </a:r>
            <a:r>
              <a:rPr lang="en-US" sz="1100" dirty="0">
                <a:solidFill>
                  <a:srgbClr val="8496B0"/>
                </a:solidFill>
              </a:rPr>
              <a:t>EmployeeCount, EmployeeNumber, Over18,
StandardHours, DailyRate, HourlyRate, MonthlyRate
</a:t>
            </a:r>
            <a:r>
              <a:rPr lang="en-US" sz="1100" b="1" dirty="0">
                <a:solidFill>
                  <a:srgbClr val="2D3A52"/>
                </a:solidFill>
              </a:rPr>
              <a:t>New columns added: </a:t>
            </a:r>
            <a:r>
              <a:rPr lang="en-US" sz="1100" dirty="0">
                <a:solidFill>
                  <a:srgbClr val="8496B0"/>
                </a:solidFill>
              </a:rPr>
              <a:t>Attrition_Flag, Age_Group, Tenure_Group, Income_Band,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496B0"/>
                </a:solidFill>
              </a:rPr>
              <a:t>JobSatisfaction_Label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0" y="2377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A52"/>
                </a:solidFill>
              </a:rPr>
              <a:t>Tools &amp; Skills Demonstrated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669280" y="2834640"/>
            <a:ext cx="32918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0" y="2834640"/>
            <a:ext cx="64008" cy="43891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06440" y="283464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A52"/>
                </a:solidFill>
              </a:rPr>
              <a:t>Python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0" y="28346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496B0"/>
                </a:solidFill>
              </a:rPr>
              <a:t>Cleaning, EDA, CSV export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669280" y="3346704"/>
            <a:ext cx="32918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69280" y="3346704"/>
            <a:ext cx="64008" cy="438912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06440" y="3346704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A52"/>
                </a:solidFill>
              </a:rPr>
              <a:t>SQL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0" y="334670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496B0"/>
                </a:solidFill>
              </a:rPr>
              <a:t>10 business queries (SQLite)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69280" y="3858768"/>
            <a:ext cx="32918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69280" y="3858768"/>
            <a:ext cx="64008" cy="438912"/>
          </a:xfrm>
          <a:prstGeom prst="rect">
            <a:avLst/>
          </a:prstGeom>
          <a:solidFill>
            <a:srgbClr val="BF8F00"/>
          </a:solidFill>
          <a:ln w="12700">
            <a:solidFill>
              <a:srgbClr val="BF8F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06440" y="3858768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A52"/>
                </a:solidFill>
              </a:rPr>
              <a:t>Excel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858000" y="385876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496B0"/>
                </a:solidFill>
              </a:rPr>
              <a:t>Cost model, ROI scenarios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669280" y="4370832"/>
            <a:ext cx="32918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669280" y="4370832"/>
            <a:ext cx="64008" cy="43891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06440" y="4370832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A52"/>
                </a:solidFill>
              </a:rPr>
              <a:t>Power BI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858000" y="437083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496B0"/>
                </a:solidFill>
              </a:rPr>
              <a:t>3-page interactive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KEY FINDINGS  —  THE WHAT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u="sng" dirty="0">
                <a:solidFill>
                  <a:srgbClr val="2D3A52"/>
                </a:solidFill>
              </a:rPr>
              <a:t>Headline Numbers at a Glance</a:t>
            </a:r>
            <a:endParaRPr lang="en-US" sz="2200" u="sng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298448"/>
            <a:ext cx="26517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E75B6"/>
                </a:solidFill>
              </a:rPr>
              <a:t>1,470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1984248"/>
            <a:ext cx="26517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496B0"/>
                </a:solidFill>
              </a:rPr>
              <a:t>Total Employees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1188720"/>
            <a:ext cx="2651760" cy="1371600"/>
          </a:xfrm>
          <a:prstGeom prst="rect">
            <a:avLst/>
          </a:prstGeom>
          <a:solidFill>
            <a:srgbClr val="FCE4D6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46120" y="1298448"/>
            <a:ext cx="26517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0000"/>
                </a:solidFill>
              </a:rPr>
              <a:t>237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246120" y="1984248"/>
            <a:ext cx="26517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496B0"/>
                </a:solidFill>
              </a:rPr>
              <a:t>Employees Left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1188720"/>
            <a:ext cx="2651760" cy="1371600"/>
          </a:xfrm>
          <a:prstGeom prst="rect">
            <a:avLst/>
          </a:prstGeom>
          <a:solidFill>
            <a:srgbClr val="FCE4D6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1298448"/>
            <a:ext cx="26517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0000"/>
                </a:solidFill>
              </a:rPr>
              <a:t>16.1%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217920" y="1984248"/>
            <a:ext cx="26517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496B0"/>
                </a:solidFill>
              </a:rPr>
              <a:t>Attrition Rate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743200"/>
            <a:ext cx="2651760" cy="1371600"/>
          </a:xfrm>
          <a:prstGeom prst="rect">
            <a:avLst/>
          </a:prstGeom>
          <a:solidFill>
            <a:srgbClr val="E2EFDA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74320" y="2852928"/>
            <a:ext cx="26517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75623"/>
                </a:solidFill>
              </a:rPr>
              <a:t>1,233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74320" y="3538728"/>
            <a:ext cx="26517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496B0"/>
                </a:solidFill>
              </a:rPr>
              <a:t>Active Employees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46120" y="274320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46120" y="2852928"/>
            <a:ext cx="26517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</a:rPr>
              <a:t>$36,813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246120" y="3538728"/>
            <a:ext cx="26517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496B0"/>
                </a:solidFill>
              </a:rPr>
              <a:t>Cost Per Leaver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2743200"/>
            <a:ext cx="2651760" cy="1371600"/>
          </a:xfrm>
          <a:prstGeom prst="rect">
            <a:avLst/>
          </a:prstGeom>
          <a:solidFill>
            <a:srgbClr val="FCE4D6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17920" y="2852928"/>
            <a:ext cx="26517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0000"/>
                </a:solidFill>
              </a:rPr>
              <a:t>$8.7M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217920" y="3538728"/>
            <a:ext cx="26517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496B0"/>
                </a:solidFill>
              </a:rPr>
              <a:t>Total Annual Cost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4297680"/>
            <a:ext cx="859536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29768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KEY INSIGHT:  At $36,813 per leaver × 237 leavers = $8.7M lost annually — equivalent to the salary of 113 additional employees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ATTRITION BREAKDOWN  —  DEPARTMENT &amp; JOB ROLE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u="sng" dirty="0">
                <a:solidFill>
                  <a:srgbClr val="2D3A52"/>
                </a:solidFill>
              </a:rPr>
              <a:t>Where Is the Attrition Happening?</a:t>
            </a:r>
            <a:endParaRPr lang="en-US" sz="2200" u="sng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143000"/>
          <a:ext cx="41148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4572000" y="1143000"/>
          <a:ext cx="43891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274320" y="4480560"/>
            <a:ext cx="8595360" cy="457200"/>
          </a:xfrm>
          <a:prstGeom prst="rect">
            <a:avLst/>
          </a:prstGeom>
          <a:solidFill>
            <a:srgbClr val="FCE4D6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57200" y="448056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0000"/>
                </a:solidFill>
              </a:rPr>
              <a:t>Sales Representatives show 39.8% attrition — nearly 4 in every 10 leave annually. This is the #1 priority for HR intervention.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ROOT CAUSE ANALYSIS  —  THE WHY  (1 of 3)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u="sng" dirty="0">
                <a:solidFill>
                  <a:srgbClr val="2D3A52"/>
                </a:solidFill>
              </a:rPr>
              <a:t>Finding 1: Low Income Drives Attrition</a:t>
            </a:r>
            <a:endParaRPr lang="en-US" sz="2200" u="sng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2770416909"/>
              </p:ext>
            </p:extLst>
          </p:nvPr>
        </p:nvGraphicFramePr>
        <p:xfrm>
          <a:off x="190237" y="1143000"/>
          <a:ext cx="50292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577840" y="1051560"/>
            <a:ext cx="3291840" cy="1097280"/>
          </a:xfrm>
          <a:prstGeom prst="rect">
            <a:avLst/>
          </a:prstGeom>
          <a:solidFill>
            <a:srgbClr val="FCE4D6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577840" y="1161288"/>
            <a:ext cx="3291840" cy="63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0000"/>
                </a:solidFill>
              </a:rPr>
              <a:t>$2,046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577840" y="1687982"/>
            <a:ext cx="329184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496B0"/>
                </a:solidFill>
              </a:rPr>
              <a:t>Monthly Income Gap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577840" y="2286000"/>
            <a:ext cx="3291840" cy="1097280"/>
          </a:xfrm>
          <a:prstGeom prst="rect">
            <a:avLst/>
          </a:prstGeom>
          <a:solidFill>
            <a:srgbClr val="FCE4D6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577840" y="2395728"/>
            <a:ext cx="3291840" cy="63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0000"/>
                </a:solidFill>
              </a:rPr>
              <a:t>$24,552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5577840" y="2922422"/>
            <a:ext cx="329184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496B0"/>
                </a:solidFill>
              </a:rPr>
              <a:t>Annual Salary Gap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600700" y="3447288"/>
            <a:ext cx="32918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715000" y="35935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A52"/>
                </a:solidFill>
              </a:rPr>
              <a:t>What this means: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715000" y="3867912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00000"/>
                </a:solidFill>
              </a:rPr>
              <a:t>• </a:t>
            </a:r>
            <a:r>
              <a:rPr lang="en-US" sz="1000" dirty="0">
                <a:solidFill>
                  <a:srgbClr val="8496B0"/>
                </a:solidFill>
              </a:rPr>
              <a:t>Leavers earn 30% LESS than those who stay
</a:t>
            </a:r>
            <a:r>
              <a:rPr lang="en-US" sz="1000" dirty="0">
                <a:solidFill>
                  <a:srgbClr val="C00000"/>
                </a:solidFill>
              </a:rPr>
              <a:t>• </a:t>
            </a:r>
            <a:r>
              <a:rPr lang="en-US" sz="1000" dirty="0">
                <a:solidFill>
                  <a:srgbClr val="8496B0"/>
                </a:solidFill>
              </a:rPr>
              <a:t>Low pay is the strongest single predictor
</a:t>
            </a:r>
            <a:r>
              <a:rPr lang="en-US" sz="1000" dirty="0">
                <a:solidFill>
                  <a:srgbClr val="C00000"/>
                </a:solidFill>
              </a:rPr>
              <a:t>• </a:t>
            </a:r>
            <a:r>
              <a:rPr lang="en-US" sz="1000" dirty="0">
                <a:solidFill>
                  <a:srgbClr val="8496B0"/>
                </a:solidFill>
              </a:rPr>
              <a:t>Sales Reps under $3K/month at highest risk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74320" y="4526280"/>
            <a:ext cx="859536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452628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SQL Query Q4 confirmed: employees who left earned an average of $4,787/month vs $6,833 for those who stayed.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ROOT CAUSE ANALYSIS  —  THE WHY  (2 of 3)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598564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u="sng" dirty="0">
                <a:solidFill>
                  <a:srgbClr val="2D3A52"/>
                </a:solidFill>
              </a:rPr>
              <a:t>Finding 2: Overtime Triples Attrition Risk</a:t>
            </a:r>
            <a:endParaRPr lang="en-US" sz="2200" u="sng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143000"/>
          <a:ext cx="50292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577840" y="1188720"/>
            <a:ext cx="3291840" cy="1005840"/>
          </a:xfrm>
          <a:prstGeom prst="rect">
            <a:avLst/>
          </a:prstGeom>
          <a:solidFill>
            <a:srgbClr val="FCE4D6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577840" y="1298448"/>
            <a:ext cx="3291840" cy="583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0000"/>
                </a:solidFill>
              </a:rPr>
              <a:t>3×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577840" y="1772107"/>
            <a:ext cx="32918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496B0"/>
                </a:solidFill>
              </a:rPr>
              <a:t>Higher Risk with Overtime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577840" y="2331720"/>
            <a:ext cx="3291840" cy="1005840"/>
          </a:xfrm>
          <a:prstGeom prst="rect">
            <a:avLst/>
          </a:prstGeom>
          <a:solidFill>
            <a:srgbClr val="FFF2CC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577840" y="2441448"/>
            <a:ext cx="3291840" cy="583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BF8F00"/>
                </a:solidFill>
              </a:rPr>
              <a:t>416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5577840" y="2915107"/>
            <a:ext cx="32918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496B0"/>
                </a:solidFill>
              </a:rPr>
              <a:t>Employees on Overtime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577840" y="3451860"/>
            <a:ext cx="3291840" cy="1005840"/>
          </a:xfrm>
          <a:prstGeom prst="rect">
            <a:avLst/>
          </a:prstGeom>
          <a:solidFill>
            <a:srgbClr val="FCE4D6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577840" y="3584448"/>
            <a:ext cx="3291840" cy="583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0000"/>
                </a:solidFill>
              </a:rPr>
              <a:t>30.5%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5577840" y="4058107"/>
            <a:ext cx="32918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496B0"/>
                </a:solidFill>
              </a:rPr>
              <a:t>Overtime Attrition Rate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74320" y="4480560"/>
            <a:ext cx="8595360" cy="411480"/>
          </a:xfrm>
          <a:prstGeom prst="rect">
            <a:avLst/>
          </a:prstGeom>
          <a:solidFill>
            <a:srgbClr val="FCE4D6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448056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0000"/>
                </a:solidFill>
              </a:rPr>
              <a:t>IMMEDIATE ACTION: Audit mandatory overtime in Sales — if overtime is reduced, attrition could drop by up to 8%, saving $697,960 annually.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ROOT CAUSE ANALYSIS  —  THE WHY  (3 of 3)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u="sng" dirty="0">
                <a:solidFill>
                  <a:srgbClr val="2D3A52"/>
                </a:solidFill>
              </a:rPr>
              <a:t>Finding 3: Early Tenure &amp; Low Satisfaction Are Critical</a:t>
            </a:r>
            <a:endParaRPr lang="en-US" sz="2200" u="sng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143000"/>
          <a:ext cx="41148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4572000" y="1143000"/>
          <a:ext cx="43891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274320" y="4480560"/>
            <a:ext cx="859536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57200" y="448056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The first year is the most critical: 34.9% of 0-1 year employees leave. Low satisfaction (score 1) shows 22.8% attrition vs 11.3% for very high satisfaction.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EXCEL COST MODEL  —  PHASE 3 DELIVERABLE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u="sng" dirty="0">
                <a:solidFill>
                  <a:srgbClr val="2D3A52"/>
                </a:solidFill>
              </a:rPr>
              <a:t>How Much Is Attrition Really Costing the Business?</a:t>
            </a:r>
            <a:endParaRPr lang="en-US" sz="2000" u="sng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88720"/>
          <a:ext cx="8595360" cy="2743202"/>
        </p:xfrm>
        <a:graphic>
          <a:graphicData uri="http://schemas.openxmlformats.org/drawingml/2006/table">
            <a:tbl>
              <a:tblPr/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1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Cost Component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Formula Used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Amount (USD)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Annual Salary of Leaver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Monthly salary × 12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$57,444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Replacement Cost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Annual salary × 50% (industry std)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$28,722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Lost Productivity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Salary × 3 months × 25%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$3,590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Recruitment Cost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Job boards + agency fees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$3,000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Training &amp; Onboarding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Onboarding programme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$1,500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COST PER LEAVER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56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Sum of cost components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56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$36,812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56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3977640"/>
            <a:ext cx="2011680" cy="960120"/>
          </a:xfrm>
          <a:prstGeom prst="rect">
            <a:avLst/>
          </a:prstGeom>
          <a:solidFill>
            <a:srgbClr val="FCE4D6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274320" y="4087368"/>
            <a:ext cx="2011680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0000"/>
                </a:solidFill>
              </a:rPr>
              <a:t>237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274320" y="4534510"/>
            <a:ext cx="2011680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496B0"/>
                </a:solidFill>
              </a:rPr>
              <a:t>Leavers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468880" y="3977640"/>
            <a:ext cx="2011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7"/>
          <p:cNvSpPr/>
          <p:nvPr/>
        </p:nvSpPr>
        <p:spPr>
          <a:xfrm>
            <a:off x="2468880" y="4087368"/>
            <a:ext cx="2011680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</a:rPr>
              <a:t>$36,812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2468880" y="4534510"/>
            <a:ext cx="2011680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496B0"/>
                </a:solidFill>
              </a:rPr>
              <a:t>Cost Per Leaver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663440" y="3977640"/>
            <a:ext cx="2011680" cy="960120"/>
          </a:xfrm>
          <a:prstGeom prst="rect">
            <a:avLst/>
          </a:prstGeom>
          <a:solidFill>
            <a:srgbClr val="FCE4D6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663440" y="4087368"/>
            <a:ext cx="2011680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0000"/>
                </a:solidFill>
              </a:rPr>
              <a:t>$8,724,444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4663440" y="4534510"/>
            <a:ext cx="2011680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496B0"/>
                </a:solidFill>
              </a:rPr>
              <a:t>Total Annual Cost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858000" y="3977640"/>
            <a:ext cx="2011680" cy="960120"/>
          </a:xfrm>
          <a:prstGeom prst="rect">
            <a:avLst/>
          </a:prstGeom>
          <a:solidFill>
            <a:srgbClr val="FFF2CC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858000" y="4087368"/>
            <a:ext cx="2011680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BF8F00"/>
                </a:solidFill>
              </a:rPr>
              <a:t>$727,042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6858000" y="4534510"/>
            <a:ext cx="2011680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496B0"/>
                </a:solidFill>
              </a:rPr>
              <a:t>Monthly Cost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RETENTION ROI MODEL  —  WHAT IF WE REDUCE ATTRITION?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u="sng" dirty="0">
                <a:solidFill>
                  <a:srgbClr val="2D3A52"/>
                </a:solidFill>
              </a:rPr>
              <a:t>The Business Case for Investing in Retention</a:t>
            </a:r>
            <a:endParaRPr lang="en-US" sz="2000" u="sng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143000"/>
          <a:ext cx="530352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1188720"/>
            <a:ext cx="3200400" cy="1051560"/>
          </a:xfrm>
          <a:prstGeom prst="rect">
            <a:avLst/>
          </a:prstGeom>
          <a:solidFill>
            <a:srgbClr val="E2EFDA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897880" y="12344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496B0"/>
                </a:solidFill>
              </a:rPr>
              <a:t>Best ROI Scenario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897880" y="149047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5623"/>
                </a:solidFill>
              </a:rPr>
              <a:t>Combined Programme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897880" y="179222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496B0"/>
                </a:solidFill>
              </a:rPr>
              <a:t>$944,901 net return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760720" y="2377440"/>
            <a:ext cx="3200400" cy="1051560"/>
          </a:xfrm>
          <a:prstGeom prst="rect">
            <a:avLst/>
          </a:prstGeom>
          <a:solidFill>
            <a:srgbClr val="EFF6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897880" y="2423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496B0"/>
                </a:solidFill>
              </a:rPr>
              <a:t>Quickest Win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897880" y="26791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</a:rPr>
              <a:t>Eliminate Overtime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897880" y="298094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496B0"/>
                </a:solidFill>
              </a:rPr>
              <a:t>$547,960 for $150K investment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760720" y="3566160"/>
            <a:ext cx="3200400" cy="1051560"/>
          </a:xfrm>
          <a:prstGeom prst="rect">
            <a:avLst/>
          </a:prstGeom>
          <a:solidFill>
            <a:srgbClr val="FCE4D6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897880" y="36118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496B0"/>
                </a:solidFill>
              </a:rPr>
              <a:t>Not Recommended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897880" y="386791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0000"/>
                </a:solidFill>
              </a:rPr>
              <a:t>Pay Raise Only (5%)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897880" y="4169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496B0"/>
                </a:solidFill>
              </a:rPr>
              <a:t>-$63,775 — cost exceeds saving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POWER BI DASHBOARD  —  PHASE 4 DELIVERABLE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539496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u="sng" dirty="0">
                <a:solidFill>
                  <a:srgbClr val="2D3A52"/>
                </a:solidFill>
              </a:rPr>
              <a:t>3-Page Interactive Dashboard</a:t>
            </a:r>
            <a:endParaRPr lang="en-US" sz="2200" u="sng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743200" cy="34152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69848"/>
            <a:ext cx="2743200" cy="5943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6984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PAGE 1  |  The WHAT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175564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3A52"/>
                </a:solidFill>
              </a:rPr>
              <a:t>Executive Summary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2585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5B6"/>
                </a:solidFill>
              </a:rPr>
              <a:t>✓  </a:t>
            </a:r>
            <a:r>
              <a:rPr lang="en-US" sz="1000" dirty="0">
                <a:solidFill>
                  <a:srgbClr val="8496B0"/>
                </a:solidFill>
              </a:rPr>
              <a:t>4 KPI cards (employees, attrition, rate, active)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651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5B6"/>
                </a:solidFill>
              </a:rPr>
              <a:t>✓  </a:t>
            </a:r>
            <a:r>
              <a:rPr lang="en-US" sz="1000" dirty="0">
                <a:solidFill>
                  <a:srgbClr val="8496B0"/>
                </a:solidFill>
              </a:rPr>
              <a:t>Attrition by Department bar chart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30449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5B6"/>
                </a:solidFill>
              </a:rPr>
              <a:t>✓  </a:t>
            </a:r>
            <a:r>
              <a:rPr lang="en-US" sz="1000" dirty="0">
                <a:solidFill>
                  <a:srgbClr val="8496B0"/>
                </a:solidFill>
              </a:rPr>
              <a:t>Attrition by Job Role chart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343814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5B6"/>
                </a:solidFill>
              </a:rPr>
              <a:t>✓  </a:t>
            </a:r>
            <a:r>
              <a:rPr lang="en-US" sz="1000" dirty="0">
                <a:solidFill>
                  <a:srgbClr val="8496B0"/>
                </a:solidFill>
              </a:rPr>
              <a:t>Overtime impact chart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383133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5B6"/>
                </a:solidFill>
              </a:rPr>
              <a:t>✓  </a:t>
            </a:r>
            <a:r>
              <a:rPr lang="en-US" sz="1000" dirty="0">
                <a:solidFill>
                  <a:srgbClr val="8496B0"/>
                </a:solidFill>
              </a:rPr>
              <a:t>Age group analysis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42245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5B6"/>
                </a:solidFill>
              </a:rPr>
              <a:t>✓  </a:t>
            </a:r>
            <a:r>
              <a:rPr lang="en-US" sz="1000" dirty="0">
                <a:solidFill>
                  <a:srgbClr val="8496B0"/>
                </a:solidFill>
              </a:rPr>
              <a:t>Interactive slicers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1188720"/>
            <a:ext cx="2743200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1069848"/>
            <a:ext cx="2743200" cy="594360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106984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PAGE 2  |  The WHY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00400" y="175564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3A52"/>
                </a:solidFill>
              </a:rPr>
              <a:t>Root Cause Analysis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37560" y="22585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75623"/>
                </a:solidFill>
              </a:rPr>
              <a:t>✓  </a:t>
            </a:r>
            <a:r>
              <a:rPr lang="en-US" sz="1000" dirty="0">
                <a:solidFill>
                  <a:srgbClr val="8496B0"/>
                </a:solidFill>
              </a:rPr>
              <a:t>Income gap: Left vs Stayed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37560" y="2651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75623"/>
                </a:solidFill>
              </a:rPr>
              <a:t>✓  </a:t>
            </a:r>
            <a:r>
              <a:rPr lang="en-US" sz="1000" dirty="0">
                <a:solidFill>
                  <a:srgbClr val="8496B0"/>
                </a:solidFill>
              </a:rPr>
              <a:t>Job satisfaction vs attrition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37560" y="30449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75623"/>
                </a:solidFill>
              </a:rPr>
              <a:t>✓  </a:t>
            </a:r>
            <a:r>
              <a:rPr lang="en-US" sz="1000" dirty="0">
                <a:solidFill>
                  <a:srgbClr val="8496B0"/>
                </a:solidFill>
              </a:rPr>
              <a:t>Tenure group analysis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37560" y="343814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75623"/>
                </a:solidFill>
              </a:rPr>
              <a:t>✓  </a:t>
            </a:r>
            <a:r>
              <a:rPr lang="en-US" sz="1000" dirty="0">
                <a:solidFill>
                  <a:srgbClr val="8496B0"/>
                </a:solidFill>
              </a:rPr>
              <a:t>Commute distance impact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37560" y="383133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75623"/>
                </a:solidFill>
              </a:rPr>
              <a:t>✓  </a:t>
            </a:r>
            <a:r>
              <a:rPr lang="en-US" sz="1000" dirty="0">
                <a:solidFill>
                  <a:srgbClr val="8496B0"/>
                </a:solidFill>
              </a:rPr>
              <a:t>All charts cross-filter on click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1188720"/>
            <a:ext cx="2743200" cy="34152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1069848"/>
            <a:ext cx="2743200" cy="5943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106984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PAGE 3  |  The HOW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26480" y="175564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3A52"/>
                </a:solidFill>
              </a:rPr>
              <a:t>Cost &amp; Recommendations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63640" y="22585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0000"/>
                </a:solidFill>
              </a:rPr>
              <a:t>✓  </a:t>
            </a:r>
            <a:r>
              <a:rPr lang="en-US" sz="1000" dirty="0">
                <a:solidFill>
                  <a:srgbClr val="8496B0"/>
                </a:solidFill>
              </a:rPr>
              <a:t>Cost per leaver KPI card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63640" y="2651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0000"/>
                </a:solidFill>
              </a:rPr>
              <a:t>✓  </a:t>
            </a:r>
            <a:r>
              <a:rPr lang="en-US" sz="1000" dirty="0">
                <a:solidFill>
                  <a:srgbClr val="8496B0"/>
                </a:solidFill>
              </a:rPr>
              <a:t>Total annual cost KPI card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63640" y="30449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0000"/>
                </a:solidFill>
              </a:rPr>
              <a:t>✓  </a:t>
            </a:r>
            <a:r>
              <a:rPr lang="en-US" sz="1000" dirty="0">
                <a:solidFill>
                  <a:srgbClr val="8496B0"/>
                </a:solidFill>
              </a:rPr>
              <a:t>Department cost breakdown table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63640" y="343814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0000"/>
                </a:solidFill>
              </a:rPr>
              <a:t>✓  </a:t>
            </a:r>
            <a:r>
              <a:rPr lang="en-US" sz="1000" dirty="0">
                <a:solidFill>
                  <a:srgbClr val="8496B0"/>
                </a:solidFill>
              </a:rPr>
              <a:t>Retention ROI bar chart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63640" y="383133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0000"/>
                </a:solidFill>
              </a:rPr>
              <a:t>✓  </a:t>
            </a:r>
            <a:r>
              <a:rPr lang="en-US" sz="1000" dirty="0">
                <a:solidFill>
                  <a:srgbClr val="8496B0"/>
                </a:solidFill>
              </a:rPr>
              <a:t>Salary band attrition chart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4722876"/>
            <a:ext cx="8595360" cy="26060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70916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</a:rPr>
              <a:t>Each pages are connected — clicking any bar or chart cross-filters every other visual on that page simultaneously.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RECOMMENDATIONS  —  THE HOW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534766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u="sng" dirty="0">
                <a:solidFill>
                  <a:srgbClr val="2D3A52"/>
                </a:solidFill>
              </a:rPr>
              <a:t>Action Plan for Leadership</a:t>
            </a:r>
            <a:endParaRPr lang="en-US" sz="2200" u="sng" dirty="0"/>
          </a:p>
        </p:txBody>
      </p:sp>
      <p:sp>
        <p:nvSpPr>
          <p:cNvPr id="5" name="Shape 3"/>
          <p:cNvSpPr/>
          <p:nvPr/>
        </p:nvSpPr>
        <p:spPr>
          <a:xfrm>
            <a:off x="274320" y="978092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78092"/>
            <a:ext cx="4206240" cy="4572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7809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IMMEDIATE  |  0–3 months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49015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A52"/>
                </a:solidFill>
              </a:rPr>
              <a:t>Audit Overtime in Sales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828484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496B0"/>
                </a:solidFill>
              </a:rPr>
              <a:t>30.5% of overtime workers leave vs 10.4% of non-overtime workers. Review mandatory overtime policies in Sales department first.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45942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0000"/>
                </a:solidFill>
              </a:rPr>
              <a:t>Potential saving: $697,960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978092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978092"/>
            <a:ext cx="4206240" cy="457200"/>
          </a:xfrm>
          <a:prstGeom prst="rect">
            <a:avLst/>
          </a:prstGeom>
          <a:solidFill>
            <a:srgbClr val="BF8F00"/>
          </a:solidFill>
          <a:ln w="12700">
            <a:solidFill>
              <a:srgbClr val="BF8F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97809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SHORT TERM  |  3–6 months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0" y="149015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A52"/>
                </a:solidFill>
              </a:rPr>
              <a:t>Salary Review for Sales Representatives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1828484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496B0"/>
                </a:solidFill>
              </a:rPr>
              <a:t>39.8% of Sales Reps are leaving. Focus on employees earning under $3,000/month — they represent the highest flight risk in the dataset.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0" y="245942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F8F00"/>
                </a:solidFill>
              </a:rPr>
              <a:t>Potential saving: $436,225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944052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944052"/>
            <a:ext cx="4206240" cy="4572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94405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MEDIUM TERM  |  6–12 months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" y="345611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A52"/>
                </a:solidFill>
              </a:rPr>
              <a:t>Manager Quality Programme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1480" y="3794444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496B0"/>
                </a:solidFill>
              </a:rPr>
              <a:t>Majority of leavers had job satisfaction scores of 1-2 (Low/Medium). Improving manager quality directly impacts satisfaction and retention.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" y="44253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5B6"/>
                </a:solidFill>
              </a:rPr>
              <a:t>Potential saving: $268,980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09160" y="2944052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2944052"/>
            <a:ext cx="4206240" cy="457200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294405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LONG TERM  |  12+ months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46320" y="345611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A52"/>
                </a:solidFill>
              </a:rPr>
              <a:t>Career Path Framework for Under-25s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46320" y="3794444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496B0"/>
                </a:solidFill>
              </a:rPr>
              <a:t>Employees under 25 show 39% attrition — the highest of any age group. A structured career development programme addresses this cohort directly.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46320" y="44253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75623"/>
                </a:solidFill>
              </a:rPr>
              <a:t>Potential saving: $403,470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SQL ANALYSIS  —  PHASE 2 DELIVERABLE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u="sng" dirty="0">
                <a:solidFill>
                  <a:srgbClr val="2D3A52"/>
                </a:solidFill>
              </a:rPr>
              <a:t>10 Business Questions Answered with SQL</a:t>
            </a:r>
            <a:endParaRPr lang="en-US" sz="2200" u="sng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2062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502920" cy="6217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8872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Q1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122529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A52"/>
                </a:solidFill>
              </a:rPr>
              <a:t>Overall attrition summary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151790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496B0"/>
                </a:solidFill>
              </a:rPr>
              <a:t>16.1% attrition — 237 of 1,470 left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911096"/>
            <a:ext cx="42062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911096"/>
            <a:ext cx="502920" cy="6217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911096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Q2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194767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A52"/>
                </a:solidFill>
              </a:rPr>
              <a:t>Attrition by department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68680" y="224028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496B0"/>
                </a:solidFill>
              </a:rPr>
              <a:t>Sales 20.6% → HR 19.0% → R&amp;D 13.8%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633472"/>
            <a:ext cx="42062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633472"/>
            <a:ext cx="502920" cy="6217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633472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Q3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68680" y="267004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A52"/>
                </a:solidFill>
              </a:rPr>
              <a:t>Attrition by job role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8680" y="296265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496B0"/>
                </a:solidFill>
              </a:rPr>
              <a:t>Sales Rep 39.8% — highest risk role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3355848"/>
            <a:ext cx="42062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355848"/>
            <a:ext cx="502920" cy="6217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355848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Q4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68680" y="339242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A52"/>
                </a:solidFill>
              </a:rPr>
              <a:t>Avg salary: left vs stayed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68680" y="368503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496B0"/>
                </a:solidFill>
              </a:rPr>
              <a:t>$4,787 vs $6,833 — $2,046 gap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4078224"/>
            <a:ext cx="42062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4078224"/>
            <a:ext cx="502920" cy="6217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078224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Q5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68680" y="41148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A52"/>
                </a:solidFill>
              </a:rPr>
              <a:t>Overtime impact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68680" y="440740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496B0"/>
                </a:solidFill>
              </a:rPr>
              <a:t>30.5% OT attrition vs 10.4% non-OT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09160" y="1188720"/>
            <a:ext cx="42062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1188720"/>
            <a:ext cx="502920" cy="6217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118872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Q6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303520" y="122529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A52"/>
                </a:solidFill>
              </a:rPr>
              <a:t>Attrition by age group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303520" y="151790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496B0"/>
                </a:solidFill>
              </a:rPr>
              <a:t>Under 25 = 39% — highest age risk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09160" y="1911096"/>
            <a:ext cx="42062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9160" y="1911096"/>
            <a:ext cx="502920" cy="6217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09160" y="1911096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Q7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303520" y="194767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A52"/>
                </a:solidFill>
              </a:rPr>
              <a:t>Attrition by tenure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303520" y="224028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496B0"/>
                </a:solidFill>
              </a:rPr>
              <a:t>0-1 years = 34.9% — first year critical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09160" y="2633472"/>
            <a:ext cx="42062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09160" y="2633472"/>
            <a:ext cx="502920" cy="6217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09160" y="2633472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Q8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303520" y="267004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A52"/>
                </a:solidFill>
              </a:rPr>
              <a:t>High-risk employee profile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303520" y="296265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496B0"/>
                </a:solidFill>
              </a:rPr>
              <a:t>Low pay + overtime = clearest risk signal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709160" y="3355848"/>
            <a:ext cx="42062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709160" y="3355848"/>
            <a:ext cx="502920" cy="6217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09160" y="3355848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Q9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303520" y="339242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A52"/>
                </a:solidFill>
              </a:rPr>
              <a:t>Job satisfaction vs attrition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303520" y="368503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496B0"/>
                </a:solidFill>
              </a:rPr>
              <a:t>Score 1 (Low) = 22.8% attrition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709160" y="4078224"/>
            <a:ext cx="42062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709160" y="4078224"/>
            <a:ext cx="502920" cy="6217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09160" y="4078224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Q10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303520" y="41148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A52"/>
                </a:solidFill>
              </a:rPr>
              <a:t>Department + overtime combined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303520" y="440740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496B0"/>
                </a:solidFill>
              </a:rPr>
              <a:t>Sales + Overtime = highest risk combination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CADCFC"/>
                </a:solidFill>
              </a:rPr>
              <a:t>PROJECT COMPLETE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09168" y="724163"/>
            <a:ext cx="305640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</a:rPr>
              <a:t>Thank You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6766560" y="2331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1202</Words>
  <Application>Microsoft Office PowerPoint</Application>
  <PresentationFormat>On-screen Show (16:9)</PresentationFormat>
  <Paragraphs>233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 Analytics — Employee Attrition Audit</dc:title>
  <dc:subject>PptxGenJS Presentation</dc:subject>
  <dc:creator>Abdul Saboor</dc:creator>
  <cp:lastModifiedBy>abdul saboor mohammed</cp:lastModifiedBy>
  <cp:revision>6</cp:revision>
  <dcterms:created xsi:type="dcterms:W3CDTF">2026-04-15T09:39:31Z</dcterms:created>
  <dcterms:modified xsi:type="dcterms:W3CDTF">2026-04-15T10:02:23Z</dcterms:modified>
</cp:coreProperties>
</file>